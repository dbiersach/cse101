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74" r:id="rId2"/>
    <p:sldId id="1328" r:id="rId3"/>
    <p:sldId id="1302" r:id="rId4"/>
    <p:sldId id="1326" r:id="rId5"/>
    <p:sldId id="1327" r:id="rId6"/>
    <p:sldId id="1313" r:id="rId7"/>
    <p:sldId id="1314" r:id="rId8"/>
    <p:sldId id="1311" r:id="rId9"/>
    <p:sldId id="1315" r:id="rId10"/>
    <p:sldId id="1094" r:id="rId11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1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9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7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55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55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hyperlink" Target="mailto:dbiersach@bnl.gov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s://en.wikipedia.org/wiki/Exponential_distributio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apps.dtic.mil/sti/pdfs/ADA626479.pdf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D8D1F-051C-48C7-91AB-482302FE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E6B80FB-A2B6-448B-9EA6-47A137F539D8}"/>
              </a:ext>
            </a:extLst>
          </p:cNvPr>
          <p:cNvGrpSpPr/>
          <p:nvPr/>
        </p:nvGrpSpPr>
        <p:grpSpPr>
          <a:xfrm>
            <a:off x="5725008" y="926279"/>
            <a:ext cx="3172691" cy="3923718"/>
            <a:chOff x="5697345" y="814191"/>
            <a:chExt cx="3172691" cy="3923718"/>
          </a:xfrm>
        </p:grpSpPr>
        <p:sp>
          <p:nvSpPr>
            <p:cNvPr id="10" name="TextBox 9"/>
            <p:cNvSpPr txBox="1"/>
            <p:nvPr/>
          </p:nvSpPr>
          <p:spPr>
            <a:xfrm>
              <a:off x="6023301" y="2308225"/>
              <a:ext cx="2520778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Dave Biersach</a:t>
              </a:r>
            </a:p>
            <a:p>
              <a:pPr algn="ctr"/>
              <a:r>
                <a:rPr lang="en-US" dirty="0"/>
                <a:t>Brookhaven National Laboratory</a:t>
              </a:r>
            </a:p>
            <a:p>
              <a:pPr algn="ctr"/>
              <a:r>
                <a:rPr lang="en-US" dirty="0">
                  <a:hlinkClick r:id="rId2"/>
                </a:rPr>
                <a:t>dbiersach@bnl.gov</a:t>
              </a:r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8BD1FE5-8CB5-4983-AA2B-0B6C1209F452}"/>
                </a:ext>
              </a:extLst>
            </p:cNvPr>
            <p:cNvSpPr txBox="1"/>
            <p:nvPr/>
          </p:nvSpPr>
          <p:spPr>
            <a:xfrm>
              <a:off x="5697345" y="814191"/>
              <a:ext cx="317269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Foundations of</a:t>
              </a:r>
            </a:p>
            <a:p>
              <a:pPr algn="ctr"/>
              <a:r>
                <a:rPr lang="en-US" sz="2000" b="1" dirty="0"/>
                <a:t>Quantum Information Science </a:t>
              </a:r>
              <a:r>
                <a:rPr lang="en-US" sz="2000" dirty="0"/>
                <a:t>(QIS 101)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96F49F3-90CB-4580-B6E1-688074D23599}"/>
                </a:ext>
              </a:extLst>
            </p:cNvPr>
            <p:cNvSpPr txBox="1"/>
            <p:nvPr/>
          </p:nvSpPr>
          <p:spPr>
            <a:xfrm>
              <a:off x="5961841" y="4091578"/>
              <a:ext cx="26436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Tasks - Session 21</a:t>
              </a:r>
            </a:p>
            <a:p>
              <a:pPr algn="ctr"/>
              <a:r>
                <a:rPr lang="en-US" dirty="0"/>
                <a:t>Monte Carlo Methods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E8F0142-ECFC-49A0-A20F-FC96FABF43C8}"/>
              </a:ext>
            </a:extLst>
          </p:cNvPr>
          <p:cNvGrpSpPr/>
          <p:nvPr/>
        </p:nvGrpSpPr>
        <p:grpSpPr>
          <a:xfrm>
            <a:off x="337120" y="2496233"/>
            <a:ext cx="5331847" cy="3779990"/>
            <a:chOff x="337120" y="2496233"/>
            <a:chExt cx="5331847" cy="377999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8832D4A-5617-46DB-9DCD-50AC9971D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37120" y="2496233"/>
              <a:ext cx="2461917" cy="377999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87B0963-E82A-433A-8DE4-C642C973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60770" y="2496233"/>
              <a:ext cx="2808197" cy="193856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87D095A-43D5-408E-A6E8-9DD7E66B1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60770" y="4492514"/>
              <a:ext cx="2808197" cy="178370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6A550A9-13E2-41B1-AAF4-6A6BD9ED0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0590" y="4714038"/>
              <a:ext cx="1474976" cy="1474976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072BA07B-70DB-4F14-B45F-191539F1BD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251" y="837531"/>
            <a:ext cx="3873585" cy="132808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02A7DBD-F029-4698-9BC7-351B5923220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6028" y="5701304"/>
            <a:ext cx="2330650" cy="56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099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Task 21-01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391" y="1825624"/>
            <a:ext cx="7953219" cy="453072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/>
              <a:t>Create a Python program called </a:t>
            </a:r>
            <a:r>
              <a:rPr lang="en-US" sz="2400" b="1" dirty="0"/>
              <a:t>mc_exp_dist.py</a:t>
            </a:r>
            <a:r>
              <a:rPr lang="en-US" sz="2400" dirty="0"/>
              <a:t> that uses Monte Carlo estimation to calculate the probability that an event will occur within one hour of an exponential distribution having a rate parameter of 90 minutes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/>
              <a:t>Take a minimum of 25,000 random samples and then indicate, via different colors, which of those random samples are above or below the PDF curve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/>
              <a:t>On the same graph, use matplotlib to graph the PDF of this distribution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/>
              <a:t>Calculate and display the absolute percent relative error of your estimate for this probability versus the exact probability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/>
              <a:t>Upload your solution to the BNL QIS101 SharePoint site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89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</a:t>
            </a:fld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8ACE673-FBBE-F82C-05A8-83100693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Exponential Distribution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6776F3-4F8F-2B79-E2CB-3C9C6F6E5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621" y="2004366"/>
            <a:ext cx="5575491" cy="450728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A57622-E886-27F9-6398-96F815646175}"/>
              </a:ext>
            </a:extLst>
          </p:cNvPr>
          <p:cNvSpPr txBox="1"/>
          <p:nvPr/>
        </p:nvSpPr>
        <p:spPr>
          <a:xfrm>
            <a:off x="1514857" y="1367141"/>
            <a:ext cx="6114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4"/>
              </a:rPr>
              <a:t>https://en.wikipedia.org/wiki/Exponential_distribution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C1D5C1-296C-BC22-4235-AA5A9749E1E8}"/>
              </a:ext>
            </a:extLst>
          </p:cNvPr>
          <p:cNvSpPr/>
          <p:nvPr/>
        </p:nvSpPr>
        <p:spPr>
          <a:xfrm>
            <a:off x="1933731" y="4691921"/>
            <a:ext cx="4257207" cy="20236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951DEBB-C797-92E9-6E5E-95B0D448AD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9682" y="4258010"/>
            <a:ext cx="3715668" cy="25885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601609-70C6-E4BC-3C8F-131596C53F57}"/>
                  </a:ext>
                </a:extLst>
              </p:cNvPr>
              <p:cNvSpPr txBox="1"/>
              <p:nvPr/>
            </p:nvSpPr>
            <p:spPr>
              <a:xfrm>
                <a:off x="5375650" y="5206483"/>
                <a:ext cx="1292790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sz="20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60</m:t>
                          </m:r>
                        </m:num>
                        <m:den>
                          <m:r>
                            <a:rPr lang="en-US" sz="2000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  <m:r>
                        <a:rPr lang="en-US" sz="20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000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000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601609-70C6-E4BC-3C8F-131596C53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650" y="5206483"/>
                <a:ext cx="1292790" cy="578235"/>
              </a:xfrm>
              <a:prstGeom prst="rect">
                <a:avLst/>
              </a:prstGeom>
              <a:blipFill>
                <a:blip r:embed="rId6"/>
                <a:stretch>
                  <a:fillRect b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C4C1CE4-7A77-A34C-B426-8C2206CD6AC6}"/>
              </a:ext>
            </a:extLst>
          </p:cNvPr>
          <p:cNvCxnSpPr>
            <a:cxnSpLocks/>
          </p:cNvCxnSpPr>
          <p:nvPr/>
        </p:nvCxnSpPr>
        <p:spPr>
          <a:xfrm>
            <a:off x="1259174" y="4084820"/>
            <a:ext cx="69704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1587A4-ABB0-2B80-7075-2299BACCA281}"/>
              </a:ext>
            </a:extLst>
          </p:cNvPr>
          <p:cNvCxnSpPr>
            <a:cxnSpLocks/>
          </p:cNvCxnSpPr>
          <p:nvPr/>
        </p:nvCxnSpPr>
        <p:spPr>
          <a:xfrm>
            <a:off x="1259174" y="5856158"/>
            <a:ext cx="69704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493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D1B02-FCB1-7907-5EF5-4DACE415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9250C1-7C40-74EE-4790-8FC5B811D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CAE532-69DF-7441-5329-8D219ED88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37" y="80962"/>
            <a:ext cx="8162925" cy="66960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C08450-01A8-2172-9373-E5B3A83F25DC}"/>
              </a:ext>
            </a:extLst>
          </p:cNvPr>
          <p:cNvSpPr txBox="1"/>
          <p:nvPr/>
        </p:nvSpPr>
        <p:spPr>
          <a:xfrm>
            <a:off x="3822491" y="2780675"/>
            <a:ext cx="4107305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There is a </a:t>
            </a:r>
            <a:r>
              <a:rPr lang="en-US" b="1" dirty="0">
                <a:solidFill>
                  <a:srgbClr val="FF0000"/>
                </a:solidFill>
              </a:rPr>
              <a:t>48% </a:t>
            </a:r>
            <a:r>
              <a:rPr lang="en-US" dirty="0"/>
              <a:t>chance an event will occur within the </a:t>
            </a:r>
            <a:r>
              <a:rPr lang="en-US" b="1" dirty="0"/>
              <a:t>first hour </a:t>
            </a:r>
            <a:r>
              <a:rPr lang="en-US" dirty="0"/>
              <a:t>of a system governed by an exponential distribution having a rate parameter of </a:t>
            </a:r>
            <a:r>
              <a:rPr lang="en-US" b="1" dirty="0"/>
              <a:t>90 minutes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F98930-23B3-CBF2-35FC-AB42E7A23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264" y="5008466"/>
            <a:ext cx="1523810" cy="103809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4F6791D-62D4-9E15-C5DD-73BDD29ACAB0}"/>
              </a:ext>
            </a:extLst>
          </p:cNvPr>
          <p:cNvSpPr/>
          <p:nvPr/>
        </p:nvSpPr>
        <p:spPr>
          <a:xfrm>
            <a:off x="5053013" y="5320337"/>
            <a:ext cx="657888" cy="1475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51C951F7-2F09-8031-40A8-42461944B2AF}"/>
              </a:ext>
            </a:extLst>
          </p:cNvPr>
          <p:cNvCxnSpPr>
            <a:stCxn id="3" idx="2"/>
            <a:endCxn id="5" idx="3"/>
          </p:cNvCxnSpPr>
          <p:nvPr/>
        </p:nvCxnSpPr>
        <p:spPr>
          <a:xfrm rot="5400000">
            <a:off x="5086958" y="4604948"/>
            <a:ext cx="1413131" cy="165243"/>
          </a:xfrm>
          <a:prstGeom prst="bentConnector2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0FFDEA-8E64-01A2-8DDA-AC4B28602827}"/>
              </a:ext>
            </a:extLst>
          </p:cNvPr>
          <p:cNvCxnSpPr/>
          <p:nvPr/>
        </p:nvCxnSpPr>
        <p:spPr>
          <a:xfrm flipH="1">
            <a:off x="5710901" y="5837354"/>
            <a:ext cx="66442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017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3BAF10-616E-EB3A-6BEC-19C32C63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C36F55-7D75-BFCF-E11A-36D7F21A5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190" y="1607980"/>
            <a:ext cx="7247619" cy="417142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93527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Task 21-02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400" dirty="0"/>
                  <a:t>Fix the code in </a:t>
                </a:r>
                <a:r>
                  <a:rPr lang="en-US" sz="2400" b="1" dirty="0"/>
                  <a:t>sphere_sampling.py </a:t>
                </a:r>
                <a:r>
                  <a:rPr lang="en-US" sz="2400" dirty="0"/>
                  <a:t>to correct the problem where randomly sampled points across the surface of a 3D unit sphere bunch together at the north and south poles</a:t>
                </a:r>
              </a:p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400" dirty="0"/>
                  <a:t>The naive approach of picking a random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poloidal</a:t>
                </a:r>
                <a:r>
                  <a:rPr lang="en-US" sz="2400" dirty="0"/>
                  <a:t> angle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n-US" sz="2400" dirty="0"/>
                  <a:t> and a random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toroidal</a:t>
                </a:r>
                <a:r>
                  <a:rPr lang="en-US" sz="2400" dirty="0"/>
                  <a:t> angle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n-US" sz="2400" dirty="0"/>
                  <a:t> does not produce a uniform (fair) sampling across the entire </a:t>
                </a:r>
                <a:r>
                  <a:rPr lang="en-US" sz="2400" b="1" dirty="0"/>
                  <a:t>face</a:t>
                </a:r>
                <a:r>
                  <a:rPr lang="en-US" sz="2400" dirty="0"/>
                  <a:t> of the sphere</a:t>
                </a:r>
              </a:p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400" dirty="0"/>
                  <a:t>Consider what it is about the geometry of the sample space, as seen from the basis (perspective) of spherical coordinates, that causes the sampling "density" to deviate from a uniform distribution</a:t>
                </a:r>
              </a:p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400" dirty="0"/>
                  <a:t>Upload your solution to the BNL QIS101 SharePoint site</a:t>
                </a:r>
              </a:p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05" t="-1961" r="-1623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92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0CE5439-37D6-43F0-9E3B-0521D18D4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55" y="1403555"/>
            <a:ext cx="8318090" cy="48522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Task 21-02 </a:t>
            </a:r>
            <a:r>
              <a:rPr lang="en-US" sz="3200" dirty="0">
                <a:latin typeface="+mn-lt"/>
              </a:rPr>
              <a:t>(hint)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</a:t>
            </a:fld>
            <a:endParaRPr lang="en-US"/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1D67D6A6-322D-4AE5-90A4-29669BCFA5E6}"/>
              </a:ext>
            </a:extLst>
          </p:cNvPr>
          <p:cNvSpPr/>
          <p:nvPr/>
        </p:nvSpPr>
        <p:spPr>
          <a:xfrm>
            <a:off x="461963" y="5598056"/>
            <a:ext cx="2116393" cy="700548"/>
          </a:xfrm>
          <a:prstGeom prst="wedgeRectCallout">
            <a:avLst>
              <a:gd name="adj1" fmla="val 48504"/>
              <a:gd name="adj2" fmla="val -20381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What went wrong with our math?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79C8847A-3202-4B14-9C71-68829E3A23A4}"/>
              </a:ext>
            </a:extLst>
          </p:cNvPr>
          <p:cNvSpPr/>
          <p:nvPr/>
        </p:nvSpPr>
        <p:spPr>
          <a:xfrm>
            <a:off x="4572000" y="5598056"/>
            <a:ext cx="2116393" cy="700548"/>
          </a:xfrm>
          <a:prstGeom prst="wedgeRectCallout">
            <a:avLst>
              <a:gd name="adj1" fmla="val 48504"/>
              <a:gd name="adj2" fmla="val -20381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What must we do to sample smoothly?</a:t>
            </a:r>
          </a:p>
        </p:txBody>
      </p:sp>
    </p:spTree>
    <p:extLst>
      <p:ext uri="{BB962C8B-B14F-4D97-AF65-F5344CB8AC3E}">
        <p14:creationId xmlns:p14="http://schemas.microsoft.com/office/powerpoint/2010/main" val="4177573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Fair Point Picking on the Sphere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364938-9F2C-BD71-6828-A53555615FB3}"/>
              </a:ext>
            </a:extLst>
          </p:cNvPr>
          <p:cNvSpPr txBox="1"/>
          <p:nvPr/>
        </p:nvSpPr>
        <p:spPr>
          <a:xfrm>
            <a:off x="2286000" y="150602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https://apps.dtic.mil/sti/pdfs/ADA626479.pdf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7F54E7-7C7D-90A7-9AAD-F60E62B9C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247" y="2204480"/>
            <a:ext cx="3099505" cy="415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188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C0D880-3C32-5ABC-652C-3DB481E4A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1C9235-F017-3400-C812-B634176EB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190" y="896661"/>
            <a:ext cx="5647619" cy="495238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A0A53FB-7594-E0DC-92E7-C414FE0A388B}"/>
              </a:ext>
            </a:extLst>
          </p:cNvPr>
          <p:cNvSpPr/>
          <p:nvPr/>
        </p:nvSpPr>
        <p:spPr>
          <a:xfrm>
            <a:off x="2149642" y="1475874"/>
            <a:ext cx="3473116" cy="21656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0CE5439-37D6-43F0-9E3B-0521D18D4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55" y="1403555"/>
            <a:ext cx="8318090" cy="48522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Fair Point Picking on the Sphere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63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7344</TotalTime>
  <Words>359</Words>
  <Application>Microsoft Office PowerPoint</Application>
  <PresentationFormat>On-screen Show (4:3)</PresentationFormat>
  <Paragraphs>42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PowerPoint Presentation</vt:lpstr>
      <vt:lpstr>Task 21-01</vt:lpstr>
      <vt:lpstr>Exponential Distribution</vt:lpstr>
      <vt:lpstr>PowerPoint Presentation</vt:lpstr>
      <vt:lpstr>PowerPoint Presentation</vt:lpstr>
      <vt:lpstr>Task 21-02</vt:lpstr>
      <vt:lpstr>Task 21-02 (hint)</vt:lpstr>
      <vt:lpstr>Fair Point Picking on the Sphere</vt:lpstr>
      <vt:lpstr>PowerPoint Presentation</vt:lpstr>
      <vt:lpstr>Fair Point Picking on the Sphere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950</cp:revision>
  <cp:lastPrinted>2015-06-01T00:45:11Z</cp:lastPrinted>
  <dcterms:created xsi:type="dcterms:W3CDTF">2014-09-21T17:58:26Z</dcterms:created>
  <dcterms:modified xsi:type="dcterms:W3CDTF">2026-07-09T04:22:36Z</dcterms:modified>
</cp:coreProperties>
</file>